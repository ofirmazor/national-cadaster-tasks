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AE4B"/>
    <a:srgbClr val="E97132"/>
    <a:srgbClr val="46B1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napToObjects="1">
      <p:cViewPr varScale="1">
        <p:scale>
          <a:sx n="95" d="100"/>
          <a:sy n="95" d="100"/>
        </p:scale>
        <p:origin x="21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CB19C-458B-E165-F35C-471972D49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70A859-4374-DDD4-8F03-8AC181976F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F1D24-BF57-9DD9-A35E-A45A01F9A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F0C34-3836-40F8-B3C6-F9712816DBA1}" type="datetimeFigureOut">
              <a:rPr lang="he-IL" smtClean="0"/>
              <a:t>ה'/אלול/תשפ"ו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7D381-ACFD-0A71-87DF-5A4FF97C9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A0EFA-1C49-E9DD-520E-A0F0E0413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A175-2416-4D37-A3AD-9A395A82693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68130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52C11-2390-0519-F746-91FC1D0CA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1A0FA-D4F9-46D6-F8FC-E19591EF7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370984-CC62-C166-B6E3-0C5AE6C84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F0C34-3836-40F8-B3C6-F9712816DBA1}" type="datetimeFigureOut">
              <a:rPr lang="he-IL" smtClean="0"/>
              <a:t>ה'/אלול/תשפ"ו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7CA74B-B85F-6F6D-4B25-513CA61CC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86134-F160-EFEB-C71D-76F6124E4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A175-2416-4D37-A3AD-9A395A82693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36334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77F84-535B-38AE-6FF1-0E38C0022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7FFEA0-F744-4DA3-3357-EDB085BA2B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131BD-791D-4627-90F8-C624B37FB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F0C34-3836-40F8-B3C6-F9712816DBA1}" type="datetimeFigureOut">
              <a:rPr lang="he-IL" smtClean="0"/>
              <a:t>ה'/אלול/תשפ"ו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1FD169-6C2E-720A-36C0-109C1F208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E4DFD-703D-1E76-46E8-C18DBCF6C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A175-2416-4D37-A3AD-9A395A82693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45106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9D9F3-BD06-534F-A2BA-6F7B3D6FE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DC274-05E7-D233-48FE-4973720244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00C20F-FF7D-5052-C903-2147E93235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DC836D-AACC-7027-BD8C-4E269C8BF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F0C34-3836-40F8-B3C6-F9712816DBA1}" type="datetimeFigureOut">
              <a:rPr lang="he-IL" smtClean="0"/>
              <a:t>ה'/אלול/תשפ"ו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9517B4-1675-35A9-32FB-B8FCF7519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F43770-761A-DBDE-CC82-D681FF000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A175-2416-4D37-A3AD-9A395A82693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80843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5D5C9-EEDC-751E-107E-F6908EDD1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9D73E2-C7E3-F12F-BF9F-A7872C39B8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BACA45-FE2F-7F4B-2E08-AEA25931AA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073077-0A58-CE1A-F983-3E6068E312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53E3EA-4CB1-BCF6-9730-E5B0E2552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BA9815-2EC0-2010-98E8-5BA75379F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F0C34-3836-40F8-B3C6-F9712816DBA1}" type="datetimeFigureOut">
              <a:rPr lang="he-IL" smtClean="0"/>
              <a:t>ה'/אלול/תשפ"ו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2D4F79-4EB5-C375-4148-0B4DD8B78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C2BA0A-3AB0-1912-7C12-531BB3F44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A175-2416-4D37-A3AD-9A395A82693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32746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BC76E-29BD-2B2B-797D-23485937D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46839A-1A90-55C1-87C6-F86F27BF7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F0C34-3836-40F8-B3C6-F9712816DBA1}" type="datetimeFigureOut">
              <a:rPr lang="he-IL" smtClean="0"/>
              <a:t>ה'/אלול/תשפ"ו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C33687-83BF-BDBB-57D1-C52B0E207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A02542-8A83-E8CF-BEB7-AF51F5139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A175-2416-4D37-A3AD-9A395A82693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28819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F8A667-4A58-005C-E35C-8B4897E43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F0C34-3836-40F8-B3C6-F9712816DBA1}" type="datetimeFigureOut">
              <a:rPr lang="he-IL" smtClean="0"/>
              <a:t>ה'/אלול/תשפ"ו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B8FFE3-DC5D-5606-8F04-FE875AD9F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CD15EB-BC72-A52D-7D04-31CED8A36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A175-2416-4D37-A3AD-9A395A82693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97983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E332A-3957-2118-A9CA-B5873760E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BAD25-D110-9FD2-E565-9F88A0E79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1D7BFA-F605-0C9F-DDC5-DB7A1A556A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5EC9AD-4E36-3A33-52B9-481CCE4F5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F0C34-3836-40F8-B3C6-F9712816DBA1}" type="datetimeFigureOut">
              <a:rPr lang="he-IL" smtClean="0"/>
              <a:t>ה'/אלול/תשפ"ו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3FEA56-589E-AA58-F1FC-7834D3A60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183670-F822-D641-7B13-772DC33EA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A175-2416-4D37-A3AD-9A395A82693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12001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67122-F0EE-7CCD-F83F-D73F09E9D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126CF3-325B-F5A1-25B9-5D80B4B25A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30C1FF-EF25-B5EB-2E06-E269E9DC7E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61CB7B-7103-50DE-657A-13173E459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F0C34-3836-40F8-B3C6-F9712816DBA1}" type="datetimeFigureOut">
              <a:rPr lang="he-IL" smtClean="0"/>
              <a:t>ה'/אלול/תשפ"ו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C620BE-8FB2-56C1-0EEC-7672B6772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18711D-FFE9-E06E-9439-AC90FB626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A175-2416-4D37-A3AD-9A395A82693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43026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7B3BC-91CE-42A9-40B8-5E059871C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302801-6553-3BBD-A1B3-A93272C459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D13D8-0DD5-219B-598E-4F0DF633F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F0C34-3836-40F8-B3C6-F9712816DBA1}" type="datetimeFigureOut">
              <a:rPr lang="he-IL" smtClean="0"/>
              <a:t>ה'/אלול/תשפ"ו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F230C0-C7A7-2E10-4862-7DC712395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83C57-8448-648C-E262-06754CE34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A175-2416-4D37-A3AD-9A395A82693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26072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9EB187-4451-52E5-0EC0-54BEFC8674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84E15C-BC75-38EF-5913-1A647D09BD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8299F-FF7D-4A0C-4686-3156A4EB7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F0C34-3836-40F8-B3C6-F9712816DBA1}" type="datetimeFigureOut">
              <a:rPr lang="he-IL" smtClean="0"/>
              <a:t>ה'/אלול/תשפ"ו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1E569-E5E9-DAC3-2091-CC5F46A1F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E122ED-10A6-6C0D-7149-E159FF763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A175-2416-4D37-A3AD-9A395A82693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18045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A485F4-2A57-E2F7-171F-3557771F5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536C5F-28EC-E4AF-2E19-A9735DE56E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6E5B31-D51B-57C0-BF1F-13DB221711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8F0C34-3836-40F8-B3C6-F9712816DBA1}" type="datetimeFigureOut">
              <a:rPr lang="he-IL" smtClean="0"/>
              <a:t>ה'/אלול/תשפ"ו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E0C1A4-359C-81F4-7755-0377E6FBC1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5C2193-2E18-C259-70BA-C814A0C335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BEA175-2416-4D37-A3AD-9A395A82693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58227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22C0179-1AC2-42FE-8B8E-262626B224CE}"/>
              </a:ext>
            </a:extLst>
          </p:cNvPr>
          <p:cNvSpPr/>
          <p:nvPr/>
        </p:nvSpPr>
        <p:spPr>
          <a:xfrm>
            <a:off x="8622194" y="6295756"/>
            <a:ext cx="712505" cy="287549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Editors</a:t>
            </a:r>
            <a:endParaRPr lang="he-IL" sz="1200" dirty="0">
              <a:solidFill>
                <a:schemeClr val="bg1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508DC64-A1A3-2BA9-657B-C1D5445127C9}"/>
              </a:ext>
            </a:extLst>
          </p:cNvPr>
          <p:cNvCxnSpPr>
            <a:cxnSpLocks/>
            <a:stCxn id="18" idx="2"/>
            <a:endCxn id="5" idx="0"/>
          </p:cNvCxnSpPr>
          <p:nvPr/>
        </p:nvCxnSpPr>
        <p:spPr>
          <a:xfrm rot="16200000" flipH="1">
            <a:off x="2134648" y="746868"/>
            <a:ext cx="802782" cy="2043010"/>
          </a:xfrm>
          <a:prstGeom prst="curvedConnector3">
            <a:avLst>
              <a:gd name="adj1" fmla="val 50000"/>
            </a:avLst>
          </a:prstGeom>
          <a:ln w="28575">
            <a:solidFill>
              <a:srgbClr val="00B0F0"/>
            </a:solidFill>
            <a:headEnd type="none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03D29E40-E6E7-B2A7-5E5C-D6CF26CF1F2A}"/>
              </a:ext>
            </a:extLst>
          </p:cNvPr>
          <p:cNvSpPr/>
          <p:nvPr/>
        </p:nvSpPr>
        <p:spPr>
          <a:xfrm>
            <a:off x="3069433" y="6137101"/>
            <a:ext cx="976221" cy="287549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Developers</a:t>
            </a:r>
            <a:endParaRPr lang="he-IL" sz="1200" dirty="0">
              <a:solidFill>
                <a:schemeClr val="bg1"/>
              </a:solidFill>
            </a:endParaRPr>
          </a:p>
        </p:txBody>
      </p:sp>
      <p:cxnSp>
        <p:nvCxnSpPr>
          <p:cNvPr id="38" name="Straight Arrow Connector 19">
            <a:extLst>
              <a:ext uri="{FF2B5EF4-FFF2-40B4-BE49-F238E27FC236}">
                <a16:creationId xmlns:a16="http://schemas.microsoft.com/office/drawing/2014/main" id="{54B54FB8-4488-F03E-FBAE-56EC29C0C1FA}"/>
              </a:ext>
            </a:extLst>
          </p:cNvPr>
          <p:cNvCxnSpPr>
            <a:cxnSpLocks/>
            <a:stCxn id="34" idx="1"/>
            <a:endCxn id="1102" idx="2"/>
          </p:cNvCxnSpPr>
          <p:nvPr/>
        </p:nvCxnSpPr>
        <p:spPr>
          <a:xfrm rot="10800000">
            <a:off x="1793841" y="5059622"/>
            <a:ext cx="1275593" cy="1221255"/>
          </a:xfrm>
          <a:prstGeom prst="curvedConnector2">
            <a:avLst/>
          </a:prstGeom>
          <a:ln w="28575">
            <a:solidFill>
              <a:srgbClr val="00B0F0"/>
            </a:solidFill>
            <a:headEnd type="stealth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94" name="Group 1093">
            <a:extLst>
              <a:ext uri="{FF2B5EF4-FFF2-40B4-BE49-F238E27FC236}">
                <a16:creationId xmlns:a16="http://schemas.microsoft.com/office/drawing/2014/main" id="{2FC52100-1864-F457-F0C5-A29799D314D5}"/>
              </a:ext>
            </a:extLst>
          </p:cNvPr>
          <p:cNvGrpSpPr/>
          <p:nvPr/>
        </p:nvGrpSpPr>
        <p:grpSpPr>
          <a:xfrm>
            <a:off x="1962874" y="2169764"/>
            <a:ext cx="3189337" cy="671657"/>
            <a:chOff x="2584929" y="3170797"/>
            <a:chExt cx="6183602" cy="1778838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089D3477-5C21-2894-883A-8AA56E27A215}"/>
                </a:ext>
              </a:extLst>
            </p:cNvPr>
            <p:cNvSpPr/>
            <p:nvPr/>
          </p:nvSpPr>
          <p:spPr>
            <a:xfrm>
              <a:off x="2584929" y="3170797"/>
              <a:ext cx="6183598" cy="1778838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sz="1400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CDCD998F-8EB1-E115-AF78-4F2CB23BC3E2}"/>
                </a:ext>
              </a:extLst>
            </p:cNvPr>
            <p:cNvSpPr/>
            <p:nvPr/>
          </p:nvSpPr>
          <p:spPr>
            <a:xfrm>
              <a:off x="2584935" y="3170797"/>
              <a:ext cx="6183596" cy="374658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Organization Portal - Stage</a:t>
              </a:r>
              <a:endParaRPr lang="he-IL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FDC5647-F096-4C4F-4025-1239E70B55E6}"/>
              </a:ext>
            </a:extLst>
          </p:cNvPr>
          <p:cNvGrpSpPr/>
          <p:nvPr/>
        </p:nvGrpSpPr>
        <p:grpSpPr>
          <a:xfrm>
            <a:off x="309115" y="253249"/>
            <a:ext cx="2410838" cy="1113733"/>
            <a:chOff x="309115" y="932371"/>
            <a:chExt cx="1751162" cy="1663047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D514735-3647-E7DA-4257-699B12144913}"/>
                </a:ext>
              </a:extLst>
            </p:cNvPr>
            <p:cNvSpPr/>
            <p:nvPr/>
          </p:nvSpPr>
          <p:spPr>
            <a:xfrm>
              <a:off x="309115" y="932371"/>
              <a:ext cx="1751162" cy="1663047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sz="1400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4AC51AA9-052C-8212-C260-823D81691DD1}"/>
                </a:ext>
              </a:extLst>
            </p:cNvPr>
            <p:cNvSpPr/>
            <p:nvPr/>
          </p:nvSpPr>
          <p:spPr>
            <a:xfrm>
              <a:off x="309115" y="932371"/>
              <a:ext cx="1751162" cy="33976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1400" dirty="0"/>
                <a:t>Development Server</a:t>
              </a:r>
              <a:endParaRPr lang="he-IL" sz="1400" dirty="0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11A1B4C5-93E9-4126-B096-2CFF664B9D87}"/>
              </a:ext>
            </a:extLst>
          </p:cNvPr>
          <p:cNvGrpSpPr/>
          <p:nvPr/>
        </p:nvGrpSpPr>
        <p:grpSpPr>
          <a:xfrm>
            <a:off x="4688232" y="239141"/>
            <a:ext cx="2482754" cy="1127841"/>
            <a:chOff x="309115" y="932371"/>
            <a:chExt cx="1751162" cy="1663047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0E7B4F02-2943-3D4E-0CB7-3B3FFC82534A}"/>
                </a:ext>
              </a:extLst>
            </p:cNvPr>
            <p:cNvSpPr/>
            <p:nvPr/>
          </p:nvSpPr>
          <p:spPr>
            <a:xfrm>
              <a:off x="309115" y="932371"/>
              <a:ext cx="1751162" cy="166304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sz="1400"/>
            </a:p>
          </p:txBody>
        </p:sp>
        <p:sp>
          <p:nvSpPr>
            <p:cNvPr id="1024" name="Rectangle: Rounded Corners 1023">
              <a:extLst>
                <a:ext uri="{FF2B5EF4-FFF2-40B4-BE49-F238E27FC236}">
                  <a16:creationId xmlns:a16="http://schemas.microsoft.com/office/drawing/2014/main" id="{B7E7DE2D-CEC0-8E62-915A-578A8DF701B0}"/>
                </a:ext>
              </a:extLst>
            </p:cNvPr>
            <p:cNvSpPr/>
            <p:nvPr/>
          </p:nvSpPr>
          <p:spPr>
            <a:xfrm>
              <a:off x="309115" y="932371"/>
              <a:ext cx="1751162" cy="352712"/>
            </a:xfrm>
            <a:prstGeom prst="round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1400" dirty="0"/>
                <a:t>Test Server</a:t>
              </a:r>
              <a:endParaRPr lang="he-IL" sz="1400" dirty="0"/>
            </a:p>
          </p:txBody>
        </p:sp>
      </p:grpSp>
      <p:cxnSp>
        <p:nvCxnSpPr>
          <p:cNvPr id="1034" name="Straight Arrow Connector 19">
            <a:extLst>
              <a:ext uri="{FF2B5EF4-FFF2-40B4-BE49-F238E27FC236}">
                <a16:creationId xmlns:a16="http://schemas.microsoft.com/office/drawing/2014/main" id="{07F57372-9265-483B-CBE6-D32CE570EB50}"/>
              </a:ext>
            </a:extLst>
          </p:cNvPr>
          <p:cNvCxnSpPr>
            <a:cxnSpLocks/>
            <a:stCxn id="63" idx="2"/>
            <a:endCxn id="5" idx="0"/>
          </p:cNvCxnSpPr>
          <p:nvPr/>
        </p:nvCxnSpPr>
        <p:spPr>
          <a:xfrm rot="5400000">
            <a:off x="4342186" y="582341"/>
            <a:ext cx="802782" cy="2372065"/>
          </a:xfrm>
          <a:prstGeom prst="curvedConnector3">
            <a:avLst/>
          </a:prstGeom>
          <a:ln w="28575">
            <a:solidFill>
              <a:srgbClr val="FFC000"/>
            </a:solidFill>
            <a:headEnd type="none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7" name="Straight Arrow Connector 19">
            <a:extLst>
              <a:ext uri="{FF2B5EF4-FFF2-40B4-BE49-F238E27FC236}">
                <a16:creationId xmlns:a16="http://schemas.microsoft.com/office/drawing/2014/main" id="{E25274AB-5B8B-50A8-EDD8-1EBA6FD1073C}"/>
              </a:ext>
            </a:extLst>
          </p:cNvPr>
          <p:cNvCxnSpPr>
            <a:cxnSpLocks/>
            <a:endCxn id="45" idx="0"/>
          </p:cNvCxnSpPr>
          <p:nvPr/>
        </p:nvCxnSpPr>
        <p:spPr>
          <a:xfrm rot="5400000">
            <a:off x="8458182" y="1911278"/>
            <a:ext cx="1109261" cy="9574"/>
          </a:xfrm>
          <a:prstGeom prst="curvedConnector3">
            <a:avLst>
              <a:gd name="adj1" fmla="val 50000"/>
            </a:avLst>
          </a:prstGeom>
          <a:ln w="28575">
            <a:solidFill>
              <a:schemeClr val="accent3">
                <a:lumMod val="60000"/>
                <a:lumOff val="40000"/>
              </a:schemeClr>
            </a:solidFill>
            <a:headEnd type="none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7" name="Rectangle: Rounded Corners 1056">
            <a:extLst>
              <a:ext uri="{FF2B5EF4-FFF2-40B4-BE49-F238E27FC236}">
                <a16:creationId xmlns:a16="http://schemas.microsoft.com/office/drawing/2014/main" id="{707FE7FA-7F48-0CBA-DF68-6D5302E91E27}"/>
              </a:ext>
            </a:extLst>
          </p:cNvPr>
          <p:cNvSpPr/>
          <p:nvPr/>
        </p:nvSpPr>
        <p:spPr>
          <a:xfrm>
            <a:off x="11159171" y="2996474"/>
            <a:ext cx="789523" cy="287549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Readers</a:t>
            </a:r>
            <a:endParaRPr lang="he-IL" sz="1200" dirty="0">
              <a:solidFill>
                <a:schemeClr val="bg1"/>
              </a:solidFill>
            </a:endParaRPr>
          </a:p>
        </p:txBody>
      </p:sp>
      <p:cxnSp>
        <p:nvCxnSpPr>
          <p:cNvPr id="1058" name="Straight Arrow Connector 19">
            <a:extLst>
              <a:ext uri="{FF2B5EF4-FFF2-40B4-BE49-F238E27FC236}">
                <a16:creationId xmlns:a16="http://schemas.microsoft.com/office/drawing/2014/main" id="{CD7AB9D6-BFB8-B381-F1F5-BCFE130ACCA1}"/>
              </a:ext>
            </a:extLst>
          </p:cNvPr>
          <p:cNvCxnSpPr>
            <a:cxnSpLocks/>
            <a:stCxn id="1083" idx="2"/>
            <a:endCxn id="1057" idx="0"/>
          </p:cNvCxnSpPr>
          <p:nvPr/>
        </p:nvCxnSpPr>
        <p:spPr>
          <a:xfrm rot="16200000" flipH="1">
            <a:off x="9940882" y="1383423"/>
            <a:ext cx="1629492" cy="1596609"/>
          </a:xfrm>
          <a:prstGeom prst="curvedConnector3">
            <a:avLst>
              <a:gd name="adj1" fmla="val 50000"/>
            </a:avLst>
          </a:prstGeom>
          <a:ln w="28575">
            <a:solidFill>
              <a:srgbClr val="3CAE4B"/>
            </a:solidFill>
            <a:headEnd type="stealth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67" name="Table 1066">
            <a:extLst>
              <a:ext uri="{FF2B5EF4-FFF2-40B4-BE49-F238E27FC236}">
                <a16:creationId xmlns:a16="http://schemas.microsoft.com/office/drawing/2014/main" id="{097A573A-7747-F123-B8CF-0E60D19FA7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8776457"/>
              </p:ext>
            </p:extLst>
          </p:nvPr>
        </p:nvGraphicFramePr>
        <p:xfrm>
          <a:off x="393496" y="575692"/>
          <a:ext cx="2191434" cy="73152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213807">
                  <a:extLst>
                    <a:ext uri="{9D8B030D-6E8A-4147-A177-3AD203B41FA5}">
                      <a16:colId xmlns:a16="http://schemas.microsoft.com/office/drawing/2014/main" val="1534068535"/>
                    </a:ext>
                  </a:extLst>
                </a:gridCol>
                <a:gridCol w="977627">
                  <a:extLst>
                    <a:ext uri="{9D8B030D-6E8A-4147-A177-3AD203B41FA5}">
                      <a16:colId xmlns:a16="http://schemas.microsoft.com/office/drawing/2014/main" val="66611886"/>
                    </a:ext>
                  </a:extLst>
                </a:gridCol>
              </a:tblGrid>
              <a:tr h="242404">
                <a:tc>
                  <a:txBody>
                    <a:bodyPr/>
                    <a:lstStyle/>
                    <a:p>
                      <a:pPr algn="ctr" rtl="0"/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BankalModDev</a:t>
                      </a:r>
                      <a:endParaRPr lang="he-IL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he-IL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7025485"/>
                  </a:ext>
                </a:extLst>
              </a:tr>
              <a:tr h="242404">
                <a:tc>
                  <a:txBody>
                    <a:bodyPr/>
                    <a:lstStyle/>
                    <a:p>
                      <a:pPr algn="ctr" rtl="0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MNCDB; MNCDB_REP</a:t>
                      </a:r>
                      <a:endParaRPr lang="he-IL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Databases</a:t>
                      </a:r>
                      <a:endParaRPr lang="he-IL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994833"/>
                  </a:ext>
                </a:extLst>
              </a:tr>
            </a:tbl>
          </a:graphicData>
        </a:graphic>
      </p:graphicFrame>
      <p:graphicFrame>
        <p:nvGraphicFramePr>
          <p:cNvPr id="1081" name="Table 1080">
            <a:extLst>
              <a:ext uri="{FF2B5EF4-FFF2-40B4-BE49-F238E27FC236}">
                <a16:creationId xmlns:a16="http://schemas.microsoft.com/office/drawing/2014/main" id="{BC8AADF4-D51C-B47D-D823-1AC54311AC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3050807"/>
              </p:ext>
            </p:extLst>
          </p:nvPr>
        </p:nvGraphicFramePr>
        <p:xfrm>
          <a:off x="4781309" y="575692"/>
          <a:ext cx="2191434" cy="73152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213807">
                  <a:extLst>
                    <a:ext uri="{9D8B030D-6E8A-4147-A177-3AD203B41FA5}">
                      <a16:colId xmlns:a16="http://schemas.microsoft.com/office/drawing/2014/main" val="1534068535"/>
                    </a:ext>
                  </a:extLst>
                </a:gridCol>
                <a:gridCol w="977627">
                  <a:extLst>
                    <a:ext uri="{9D8B030D-6E8A-4147-A177-3AD203B41FA5}">
                      <a16:colId xmlns:a16="http://schemas.microsoft.com/office/drawing/2014/main" val="66611886"/>
                    </a:ext>
                  </a:extLst>
                </a:gridCol>
              </a:tblGrid>
              <a:tr h="242404">
                <a:tc>
                  <a:txBody>
                    <a:bodyPr/>
                    <a:lstStyle/>
                    <a:p>
                      <a:pPr algn="ctr" rtl="0"/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BankalModTest</a:t>
                      </a:r>
                      <a:endParaRPr lang="he-IL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he-IL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7025485"/>
                  </a:ext>
                </a:extLst>
              </a:tr>
              <a:tr h="242404">
                <a:tc>
                  <a:txBody>
                    <a:bodyPr/>
                    <a:lstStyle/>
                    <a:p>
                      <a:pPr algn="ctr" rtl="0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MNCDB;</a:t>
                      </a:r>
                    </a:p>
                    <a:p>
                      <a:pPr algn="ctr" rtl="0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MNCDB_REP</a:t>
                      </a:r>
                      <a:endParaRPr lang="he-IL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Databases</a:t>
                      </a:r>
                      <a:endParaRPr lang="he-IL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994833"/>
                  </a:ext>
                </a:extLst>
              </a:tr>
            </a:tbl>
          </a:graphicData>
        </a:graphic>
      </p:graphicFrame>
      <p:grpSp>
        <p:nvGrpSpPr>
          <p:cNvPr id="1082" name="Group 1081">
            <a:extLst>
              <a:ext uri="{FF2B5EF4-FFF2-40B4-BE49-F238E27FC236}">
                <a16:creationId xmlns:a16="http://schemas.microsoft.com/office/drawing/2014/main" id="{0DC31903-6034-DBA1-6A4E-C395CD8C5159}"/>
              </a:ext>
            </a:extLst>
          </p:cNvPr>
          <p:cNvGrpSpPr/>
          <p:nvPr/>
        </p:nvGrpSpPr>
        <p:grpSpPr>
          <a:xfrm>
            <a:off x="8768531" y="280926"/>
            <a:ext cx="2377585" cy="1086056"/>
            <a:chOff x="309115" y="932370"/>
            <a:chExt cx="1751162" cy="1663048"/>
          </a:xfrm>
        </p:grpSpPr>
        <p:sp>
          <p:nvSpPr>
            <p:cNvPr id="1083" name="Rectangle 1082">
              <a:extLst>
                <a:ext uri="{FF2B5EF4-FFF2-40B4-BE49-F238E27FC236}">
                  <a16:creationId xmlns:a16="http://schemas.microsoft.com/office/drawing/2014/main" id="{344598FD-563F-A807-184B-01930A436AAD}"/>
                </a:ext>
              </a:extLst>
            </p:cNvPr>
            <p:cNvSpPr/>
            <p:nvPr/>
          </p:nvSpPr>
          <p:spPr>
            <a:xfrm>
              <a:off x="309115" y="932371"/>
              <a:ext cx="1751162" cy="1663047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sz="1400"/>
            </a:p>
          </p:txBody>
        </p:sp>
        <p:sp>
          <p:nvSpPr>
            <p:cNvPr id="1084" name="Rectangle: Rounded Corners 1083">
              <a:extLst>
                <a:ext uri="{FF2B5EF4-FFF2-40B4-BE49-F238E27FC236}">
                  <a16:creationId xmlns:a16="http://schemas.microsoft.com/office/drawing/2014/main" id="{1CD6B5E9-620A-D3EA-0B5A-9C6490A66A72}"/>
                </a:ext>
              </a:extLst>
            </p:cNvPr>
            <p:cNvSpPr/>
            <p:nvPr/>
          </p:nvSpPr>
          <p:spPr>
            <a:xfrm>
              <a:off x="309115" y="932370"/>
              <a:ext cx="1751162" cy="379089"/>
            </a:xfrm>
            <a:prstGeom prst="roundRect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1400" dirty="0"/>
                <a:t>Production Server</a:t>
              </a:r>
              <a:endParaRPr lang="he-IL" sz="1400" dirty="0"/>
            </a:p>
          </p:txBody>
        </p:sp>
      </p:grpSp>
      <p:graphicFrame>
        <p:nvGraphicFramePr>
          <p:cNvPr id="1085" name="Table 1084">
            <a:extLst>
              <a:ext uri="{FF2B5EF4-FFF2-40B4-BE49-F238E27FC236}">
                <a16:creationId xmlns:a16="http://schemas.microsoft.com/office/drawing/2014/main" id="{35DA29ED-0776-CF16-413D-C2C6F412DD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4242568"/>
              </p:ext>
            </p:extLst>
          </p:nvPr>
        </p:nvGraphicFramePr>
        <p:xfrm>
          <a:off x="8827703" y="575692"/>
          <a:ext cx="2259243" cy="73152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251366">
                  <a:extLst>
                    <a:ext uri="{9D8B030D-6E8A-4147-A177-3AD203B41FA5}">
                      <a16:colId xmlns:a16="http://schemas.microsoft.com/office/drawing/2014/main" val="1534068535"/>
                    </a:ext>
                  </a:extLst>
                </a:gridCol>
                <a:gridCol w="1007877">
                  <a:extLst>
                    <a:ext uri="{9D8B030D-6E8A-4147-A177-3AD203B41FA5}">
                      <a16:colId xmlns:a16="http://schemas.microsoft.com/office/drawing/2014/main" val="66611886"/>
                    </a:ext>
                  </a:extLst>
                </a:gridCol>
              </a:tblGrid>
              <a:tr h="242404">
                <a:tc>
                  <a:txBody>
                    <a:bodyPr/>
                    <a:lstStyle/>
                    <a:p>
                      <a:pPr algn="ctr" rtl="0"/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BankalModProd</a:t>
                      </a:r>
                      <a:endParaRPr lang="he-IL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he-IL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7025485"/>
                  </a:ext>
                </a:extLst>
              </a:tr>
              <a:tr h="242404">
                <a:tc>
                  <a:txBody>
                    <a:bodyPr/>
                    <a:lstStyle/>
                    <a:p>
                      <a:pPr algn="ctr" rtl="0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MNCDB;</a:t>
                      </a:r>
                    </a:p>
                    <a:p>
                      <a:pPr algn="ctr" rtl="0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MNCDB_REP</a:t>
                      </a:r>
                      <a:endParaRPr lang="he-IL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Databases</a:t>
                      </a:r>
                      <a:endParaRPr lang="he-IL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994833"/>
                  </a:ext>
                </a:extLst>
              </a:tr>
            </a:tbl>
          </a:graphicData>
        </a:graphic>
      </p:graphicFrame>
      <p:graphicFrame>
        <p:nvGraphicFramePr>
          <p:cNvPr id="1093" name="Table 1092">
            <a:extLst>
              <a:ext uri="{FF2B5EF4-FFF2-40B4-BE49-F238E27FC236}">
                <a16:creationId xmlns:a16="http://schemas.microsoft.com/office/drawing/2014/main" id="{58C3A93A-73B2-3360-8724-E10CD874BA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054444"/>
              </p:ext>
            </p:extLst>
          </p:nvPr>
        </p:nvGraphicFramePr>
        <p:xfrm>
          <a:off x="2013196" y="2461195"/>
          <a:ext cx="3088697" cy="27432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473808">
                  <a:extLst>
                    <a:ext uri="{9D8B030D-6E8A-4147-A177-3AD203B41FA5}">
                      <a16:colId xmlns:a16="http://schemas.microsoft.com/office/drawing/2014/main" val="1534068535"/>
                    </a:ext>
                  </a:extLst>
                </a:gridCol>
                <a:gridCol w="614889">
                  <a:extLst>
                    <a:ext uri="{9D8B030D-6E8A-4147-A177-3AD203B41FA5}">
                      <a16:colId xmlns:a16="http://schemas.microsoft.com/office/drawing/2014/main" val="66611886"/>
                    </a:ext>
                  </a:extLst>
                </a:gridCol>
              </a:tblGrid>
              <a:tr h="242404">
                <a:tc>
                  <a:txBody>
                    <a:bodyPr/>
                    <a:lstStyle/>
                    <a:p>
                      <a:pPr algn="l" rtl="0"/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https://arcgis-srv-p.mapi.co.il/portal</a:t>
                      </a:r>
                      <a:endParaRPr lang="he-IL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he-IL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994833"/>
                  </a:ext>
                </a:extLst>
              </a:tr>
            </a:tbl>
          </a:graphicData>
        </a:graphic>
      </p:graphicFrame>
      <p:cxnSp>
        <p:nvCxnSpPr>
          <p:cNvPr id="1104" name="Straight Arrow Connector 19">
            <a:extLst>
              <a:ext uri="{FF2B5EF4-FFF2-40B4-BE49-F238E27FC236}">
                <a16:creationId xmlns:a16="http://schemas.microsoft.com/office/drawing/2014/main" id="{727D7B4A-AA5F-673D-F00A-01FD1ABE87E6}"/>
              </a:ext>
            </a:extLst>
          </p:cNvPr>
          <p:cNvCxnSpPr>
            <a:cxnSpLocks/>
            <a:stCxn id="46" idx="2"/>
            <a:endCxn id="1101" idx="0"/>
          </p:cNvCxnSpPr>
          <p:nvPr/>
        </p:nvCxnSpPr>
        <p:spPr>
          <a:xfrm rot="5400000">
            <a:off x="2195527" y="2439736"/>
            <a:ext cx="960330" cy="1763700"/>
          </a:xfrm>
          <a:prstGeom prst="curvedConnector3">
            <a:avLst>
              <a:gd name="adj1" fmla="val 50000"/>
            </a:avLst>
          </a:prstGeom>
          <a:ln w="28575">
            <a:solidFill>
              <a:srgbClr val="00B0F0"/>
            </a:solidFill>
            <a:headEnd type="none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99" name="Group 1098">
            <a:extLst>
              <a:ext uri="{FF2B5EF4-FFF2-40B4-BE49-F238E27FC236}">
                <a16:creationId xmlns:a16="http://schemas.microsoft.com/office/drawing/2014/main" id="{4D2B9478-1900-50A8-0813-050041180AD5}"/>
              </a:ext>
            </a:extLst>
          </p:cNvPr>
          <p:cNvGrpSpPr/>
          <p:nvPr/>
        </p:nvGrpSpPr>
        <p:grpSpPr>
          <a:xfrm>
            <a:off x="664805" y="3801751"/>
            <a:ext cx="2258073" cy="1336898"/>
            <a:chOff x="309115" y="932371"/>
            <a:chExt cx="1751162" cy="1663047"/>
          </a:xfrm>
        </p:grpSpPr>
        <p:sp>
          <p:nvSpPr>
            <p:cNvPr id="1100" name="Rectangle 1099">
              <a:extLst>
                <a:ext uri="{FF2B5EF4-FFF2-40B4-BE49-F238E27FC236}">
                  <a16:creationId xmlns:a16="http://schemas.microsoft.com/office/drawing/2014/main" id="{68A7B866-A4D6-379E-6D37-D0980FE5AEFA}"/>
                </a:ext>
              </a:extLst>
            </p:cNvPr>
            <p:cNvSpPr/>
            <p:nvPr/>
          </p:nvSpPr>
          <p:spPr>
            <a:xfrm>
              <a:off x="309115" y="932371"/>
              <a:ext cx="1751162" cy="1663047"/>
            </a:xfrm>
            <a:prstGeom prst="rect">
              <a:avLst/>
            </a:prstGeom>
            <a:solidFill>
              <a:srgbClr val="46B1E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sz="1400" dirty="0"/>
            </a:p>
          </p:txBody>
        </p:sp>
        <p:sp>
          <p:nvSpPr>
            <p:cNvPr id="1101" name="Rectangle: Rounded Corners 1100">
              <a:extLst>
                <a:ext uri="{FF2B5EF4-FFF2-40B4-BE49-F238E27FC236}">
                  <a16:creationId xmlns:a16="http://schemas.microsoft.com/office/drawing/2014/main" id="{D1A5776F-61DC-827E-A2CE-917A62B4D468}"/>
                </a:ext>
              </a:extLst>
            </p:cNvPr>
            <p:cNvSpPr/>
            <p:nvPr/>
          </p:nvSpPr>
          <p:spPr>
            <a:xfrm>
              <a:off x="309115" y="932371"/>
              <a:ext cx="1751162" cy="38111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1400" dirty="0"/>
                <a:t>Feature Services</a:t>
              </a:r>
              <a:endParaRPr lang="he-IL" sz="1400" dirty="0"/>
            </a:p>
          </p:txBody>
        </p:sp>
      </p:grpSp>
      <p:graphicFrame>
        <p:nvGraphicFramePr>
          <p:cNvPr id="1102" name="Table 1101">
            <a:extLst>
              <a:ext uri="{FF2B5EF4-FFF2-40B4-BE49-F238E27FC236}">
                <a16:creationId xmlns:a16="http://schemas.microsoft.com/office/drawing/2014/main" id="{C7923EC1-FCB5-7F89-B080-323FB32EC2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703804"/>
              </p:ext>
            </p:extLst>
          </p:nvPr>
        </p:nvGraphicFramePr>
        <p:xfrm>
          <a:off x="747124" y="4236661"/>
          <a:ext cx="2093433" cy="82296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093433">
                  <a:extLst>
                    <a:ext uri="{9D8B030D-6E8A-4147-A177-3AD203B41FA5}">
                      <a16:colId xmlns:a16="http://schemas.microsoft.com/office/drawing/2014/main" val="66611886"/>
                    </a:ext>
                  </a:extLst>
                </a:gridCol>
              </a:tblGrid>
              <a:tr h="242404">
                <a:tc>
                  <a:txBody>
                    <a:bodyPr/>
                    <a:lstStyle/>
                    <a:p>
                      <a:pPr algn="ctr" rtl="0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he-IL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7025485"/>
                  </a:ext>
                </a:extLst>
              </a:tr>
              <a:tr h="242404">
                <a:tc>
                  <a:txBody>
                    <a:bodyPr/>
                    <a:lstStyle/>
                    <a:p>
                      <a:pPr algn="ctr" rtl="0"/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FabricMapDevelopment</a:t>
                      </a:r>
                      <a:endParaRPr lang="he-IL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994833"/>
                  </a:ext>
                </a:extLst>
              </a:tr>
              <a:tr h="242404">
                <a:tc>
                  <a:txBody>
                    <a:bodyPr/>
                    <a:lstStyle/>
                    <a:p>
                      <a:pPr algn="ctr" rtl="0"/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InProcessMapDevelopment</a:t>
                      </a:r>
                      <a:endParaRPr lang="he-IL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483880"/>
                  </a:ext>
                </a:extLst>
              </a:tr>
            </a:tbl>
          </a:graphicData>
        </a:graphic>
      </p:graphicFrame>
      <p:grpSp>
        <p:nvGrpSpPr>
          <p:cNvPr id="1126" name="Group 1125">
            <a:extLst>
              <a:ext uri="{FF2B5EF4-FFF2-40B4-BE49-F238E27FC236}">
                <a16:creationId xmlns:a16="http://schemas.microsoft.com/office/drawing/2014/main" id="{82AF7252-CB92-0BA8-5869-65B072BA3CAD}"/>
              </a:ext>
            </a:extLst>
          </p:cNvPr>
          <p:cNvGrpSpPr/>
          <p:nvPr/>
        </p:nvGrpSpPr>
        <p:grpSpPr>
          <a:xfrm>
            <a:off x="4226655" y="3944740"/>
            <a:ext cx="1851112" cy="1336898"/>
            <a:chOff x="309115" y="932371"/>
            <a:chExt cx="1751162" cy="1663047"/>
          </a:xfrm>
        </p:grpSpPr>
        <p:sp>
          <p:nvSpPr>
            <p:cNvPr id="1127" name="Rectangle 1126">
              <a:extLst>
                <a:ext uri="{FF2B5EF4-FFF2-40B4-BE49-F238E27FC236}">
                  <a16:creationId xmlns:a16="http://schemas.microsoft.com/office/drawing/2014/main" id="{6D3249C6-9649-6E80-BBDC-80491F347EF3}"/>
                </a:ext>
              </a:extLst>
            </p:cNvPr>
            <p:cNvSpPr/>
            <p:nvPr/>
          </p:nvSpPr>
          <p:spPr>
            <a:xfrm>
              <a:off x="309115" y="932371"/>
              <a:ext cx="1751162" cy="1663047"/>
            </a:xfrm>
            <a:prstGeom prst="rect">
              <a:avLst/>
            </a:prstGeom>
            <a:solidFill>
              <a:srgbClr val="E9713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sz="1400" dirty="0"/>
            </a:p>
          </p:txBody>
        </p:sp>
        <p:sp>
          <p:nvSpPr>
            <p:cNvPr id="1128" name="Rectangle: Rounded Corners 1127">
              <a:extLst>
                <a:ext uri="{FF2B5EF4-FFF2-40B4-BE49-F238E27FC236}">
                  <a16:creationId xmlns:a16="http://schemas.microsoft.com/office/drawing/2014/main" id="{F1FB1FB0-5414-7DA5-3875-6760FEF9DD24}"/>
                </a:ext>
              </a:extLst>
            </p:cNvPr>
            <p:cNvSpPr/>
            <p:nvPr/>
          </p:nvSpPr>
          <p:spPr>
            <a:xfrm>
              <a:off x="309115" y="932371"/>
              <a:ext cx="1751162" cy="381112"/>
            </a:xfrm>
            <a:prstGeom prst="round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1400" dirty="0"/>
                <a:t>Feature Services</a:t>
              </a:r>
              <a:endParaRPr lang="he-IL" sz="1400" dirty="0"/>
            </a:p>
          </p:txBody>
        </p:sp>
      </p:grpSp>
      <p:graphicFrame>
        <p:nvGraphicFramePr>
          <p:cNvPr id="1129" name="Table 1128">
            <a:extLst>
              <a:ext uri="{FF2B5EF4-FFF2-40B4-BE49-F238E27FC236}">
                <a16:creationId xmlns:a16="http://schemas.microsoft.com/office/drawing/2014/main" id="{AEEA86D2-544D-8782-19DC-690C8962FD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6184541"/>
              </p:ext>
            </p:extLst>
          </p:nvPr>
        </p:nvGraphicFramePr>
        <p:xfrm>
          <a:off x="4332896" y="4330045"/>
          <a:ext cx="1579274" cy="82296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579274">
                  <a:extLst>
                    <a:ext uri="{9D8B030D-6E8A-4147-A177-3AD203B41FA5}">
                      <a16:colId xmlns:a16="http://schemas.microsoft.com/office/drawing/2014/main" val="66611886"/>
                    </a:ext>
                  </a:extLst>
                </a:gridCol>
              </a:tblGrid>
              <a:tr h="242404">
                <a:tc>
                  <a:txBody>
                    <a:bodyPr/>
                    <a:lstStyle/>
                    <a:p>
                      <a:pPr algn="ctr" rtl="0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he-IL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7025485"/>
                  </a:ext>
                </a:extLst>
              </a:tr>
              <a:tr h="242404">
                <a:tc>
                  <a:txBody>
                    <a:bodyPr/>
                    <a:lstStyle/>
                    <a:p>
                      <a:pPr algn="ctr" rtl="0"/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FabricMapTest</a:t>
                      </a:r>
                      <a:endParaRPr lang="he-IL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994833"/>
                  </a:ext>
                </a:extLst>
              </a:tr>
              <a:tr h="242404">
                <a:tc>
                  <a:txBody>
                    <a:bodyPr/>
                    <a:lstStyle/>
                    <a:p>
                      <a:pPr algn="ctr" rtl="0"/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InProcessMapTest</a:t>
                      </a:r>
                      <a:endParaRPr lang="he-IL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483880"/>
                  </a:ext>
                </a:extLst>
              </a:tr>
            </a:tbl>
          </a:graphicData>
        </a:graphic>
      </p:graphicFrame>
      <p:grpSp>
        <p:nvGrpSpPr>
          <p:cNvPr id="1135" name="Group 1134">
            <a:extLst>
              <a:ext uri="{FF2B5EF4-FFF2-40B4-BE49-F238E27FC236}">
                <a16:creationId xmlns:a16="http://schemas.microsoft.com/office/drawing/2014/main" id="{6EA98F7E-BA43-407A-B88B-DB97BE32ACC4}"/>
              </a:ext>
            </a:extLst>
          </p:cNvPr>
          <p:cNvGrpSpPr/>
          <p:nvPr/>
        </p:nvGrpSpPr>
        <p:grpSpPr>
          <a:xfrm>
            <a:off x="8928935" y="4253372"/>
            <a:ext cx="2230236" cy="1230618"/>
            <a:chOff x="309115" y="932370"/>
            <a:chExt cx="1751162" cy="1663048"/>
          </a:xfrm>
        </p:grpSpPr>
        <p:sp>
          <p:nvSpPr>
            <p:cNvPr id="1136" name="Rectangle 1135">
              <a:extLst>
                <a:ext uri="{FF2B5EF4-FFF2-40B4-BE49-F238E27FC236}">
                  <a16:creationId xmlns:a16="http://schemas.microsoft.com/office/drawing/2014/main" id="{6CFC3616-FA62-BF99-9AFE-1EFEE46F7DE3}"/>
                </a:ext>
              </a:extLst>
            </p:cNvPr>
            <p:cNvSpPr/>
            <p:nvPr/>
          </p:nvSpPr>
          <p:spPr>
            <a:xfrm>
              <a:off x="309115" y="932371"/>
              <a:ext cx="1751162" cy="1663047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sz="1400"/>
            </a:p>
          </p:txBody>
        </p:sp>
        <p:sp>
          <p:nvSpPr>
            <p:cNvPr id="1137" name="Rectangle: Rounded Corners 1136">
              <a:extLst>
                <a:ext uri="{FF2B5EF4-FFF2-40B4-BE49-F238E27FC236}">
                  <a16:creationId xmlns:a16="http://schemas.microsoft.com/office/drawing/2014/main" id="{BF30B17B-713D-EE3D-3335-3EB00C18A058}"/>
                </a:ext>
              </a:extLst>
            </p:cNvPr>
            <p:cNvSpPr/>
            <p:nvPr/>
          </p:nvSpPr>
          <p:spPr>
            <a:xfrm>
              <a:off x="309115" y="932370"/>
              <a:ext cx="1751162" cy="379089"/>
            </a:xfrm>
            <a:prstGeom prst="roundRect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1400" dirty="0"/>
                <a:t>Feature Services</a:t>
              </a:r>
              <a:endParaRPr lang="he-IL" sz="1400" dirty="0"/>
            </a:p>
          </p:txBody>
        </p:sp>
      </p:grpSp>
      <p:graphicFrame>
        <p:nvGraphicFramePr>
          <p:cNvPr id="1138" name="Table 1137">
            <a:extLst>
              <a:ext uri="{FF2B5EF4-FFF2-40B4-BE49-F238E27FC236}">
                <a16:creationId xmlns:a16="http://schemas.microsoft.com/office/drawing/2014/main" id="{B8CEA318-B2B7-B764-18F6-67F4C3BA00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0996221"/>
              </p:ext>
            </p:extLst>
          </p:nvPr>
        </p:nvGraphicFramePr>
        <p:xfrm>
          <a:off x="9038522" y="4613189"/>
          <a:ext cx="1983772" cy="82296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983772">
                  <a:extLst>
                    <a:ext uri="{9D8B030D-6E8A-4147-A177-3AD203B41FA5}">
                      <a16:colId xmlns:a16="http://schemas.microsoft.com/office/drawing/2014/main" val="66611886"/>
                    </a:ext>
                  </a:extLst>
                </a:gridCol>
              </a:tblGrid>
              <a:tr h="242404">
                <a:tc>
                  <a:txBody>
                    <a:bodyPr/>
                    <a:lstStyle/>
                    <a:p>
                      <a:pPr algn="ctr" rtl="0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he-IL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7025485"/>
                  </a:ext>
                </a:extLst>
              </a:tr>
              <a:tr h="242404">
                <a:tc>
                  <a:txBody>
                    <a:bodyPr/>
                    <a:lstStyle/>
                    <a:p>
                      <a:pPr algn="ctr" rtl="0"/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FabricMapProduction</a:t>
                      </a:r>
                      <a:endParaRPr lang="he-IL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994833"/>
                  </a:ext>
                </a:extLst>
              </a:tr>
              <a:tr h="242404">
                <a:tc>
                  <a:txBody>
                    <a:bodyPr/>
                    <a:lstStyle/>
                    <a:p>
                      <a:pPr algn="ctr" rtl="0"/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InProcessMapProduction</a:t>
                      </a:r>
                      <a:endParaRPr lang="he-IL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483880"/>
                  </a:ext>
                </a:extLst>
              </a:tr>
            </a:tbl>
          </a:graphicData>
        </a:graphic>
      </p:graphicFrame>
      <p:cxnSp>
        <p:nvCxnSpPr>
          <p:cNvPr id="1140" name="Straight Arrow Connector 19">
            <a:extLst>
              <a:ext uri="{FF2B5EF4-FFF2-40B4-BE49-F238E27FC236}">
                <a16:creationId xmlns:a16="http://schemas.microsoft.com/office/drawing/2014/main" id="{D8151D08-2AC8-FCF9-1392-5E6A7E91BBF0}"/>
              </a:ext>
            </a:extLst>
          </p:cNvPr>
          <p:cNvCxnSpPr>
            <a:cxnSpLocks/>
            <a:stCxn id="44" idx="2"/>
            <a:endCxn id="1137" idx="0"/>
          </p:cNvCxnSpPr>
          <p:nvPr/>
        </p:nvCxnSpPr>
        <p:spPr>
          <a:xfrm rot="16200000" flipH="1">
            <a:off x="8940791" y="3150110"/>
            <a:ext cx="1170494" cy="1036030"/>
          </a:xfrm>
          <a:prstGeom prst="curvedConnector3">
            <a:avLst>
              <a:gd name="adj1" fmla="val 50000"/>
            </a:avLst>
          </a:prstGeom>
          <a:ln w="28575">
            <a:solidFill>
              <a:schemeClr val="accent3">
                <a:lumMod val="60000"/>
                <a:lumOff val="40000"/>
              </a:schemeClr>
            </a:solidFill>
            <a:headEnd type="none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9">
            <a:extLst>
              <a:ext uri="{FF2B5EF4-FFF2-40B4-BE49-F238E27FC236}">
                <a16:creationId xmlns:a16="http://schemas.microsoft.com/office/drawing/2014/main" id="{38D46175-AC68-4458-7083-1A0C3549CEA5}"/>
              </a:ext>
            </a:extLst>
          </p:cNvPr>
          <p:cNvCxnSpPr>
            <a:cxnSpLocks/>
            <a:stCxn id="46" idx="2"/>
            <a:endCxn id="1128" idx="0"/>
          </p:cNvCxnSpPr>
          <p:nvPr/>
        </p:nvCxnSpPr>
        <p:spPr>
          <a:xfrm rot="16200000" flipH="1">
            <a:off x="3803217" y="2595745"/>
            <a:ext cx="1103319" cy="1594669"/>
          </a:xfrm>
          <a:prstGeom prst="curvedConnector3">
            <a:avLst>
              <a:gd name="adj1" fmla="val 50000"/>
            </a:avLst>
          </a:prstGeom>
          <a:ln w="28575">
            <a:solidFill>
              <a:srgbClr val="FFC000"/>
            </a:solidFill>
            <a:headEnd type="none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19">
            <a:extLst>
              <a:ext uri="{FF2B5EF4-FFF2-40B4-BE49-F238E27FC236}">
                <a16:creationId xmlns:a16="http://schemas.microsoft.com/office/drawing/2014/main" id="{E3D5BECE-1199-52A6-9B10-5F2830F2A87C}"/>
              </a:ext>
            </a:extLst>
          </p:cNvPr>
          <p:cNvCxnSpPr>
            <a:cxnSpLocks/>
            <a:stCxn id="34" idx="3"/>
            <a:endCxn id="1127" idx="2"/>
          </p:cNvCxnSpPr>
          <p:nvPr/>
        </p:nvCxnSpPr>
        <p:spPr>
          <a:xfrm flipV="1">
            <a:off x="4045654" y="5281638"/>
            <a:ext cx="1106557" cy="999238"/>
          </a:xfrm>
          <a:prstGeom prst="curvedConnector2">
            <a:avLst/>
          </a:prstGeom>
          <a:ln w="28575">
            <a:solidFill>
              <a:srgbClr val="FFC000"/>
            </a:solidFill>
            <a:headEnd type="stealth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19">
            <a:extLst>
              <a:ext uri="{FF2B5EF4-FFF2-40B4-BE49-F238E27FC236}">
                <a16:creationId xmlns:a16="http://schemas.microsoft.com/office/drawing/2014/main" id="{D41D98D0-C5FC-81F7-424C-CBC2FEE8E7BB}"/>
              </a:ext>
            </a:extLst>
          </p:cNvPr>
          <p:cNvCxnSpPr>
            <a:cxnSpLocks/>
            <a:stCxn id="4" idx="0"/>
            <a:endCxn id="1136" idx="2"/>
          </p:cNvCxnSpPr>
          <p:nvPr/>
        </p:nvCxnSpPr>
        <p:spPr>
          <a:xfrm rot="5400000" flipH="1" flipV="1">
            <a:off x="9105367" y="5357070"/>
            <a:ext cx="811766" cy="1065606"/>
          </a:xfrm>
          <a:prstGeom prst="curvedConnector3">
            <a:avLst>
              <a:gd name="adj1" fmla="val 50000"/>
            </a:avLst>
          </a:prstGeom>
          <a:ln w="28575">
            <a:solidFill>
              <a:srgbClr val="3CAE4B"/>
            </a:solidFill>
            <a:headEnd type="stealth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03C960C-2AC6-498D-8C05-4D6721562290}"/>
              </a:ext>
            </a:extLst>
          </p:cNvPr>
          <p:cNvGrpSpPr/>
          <p:nvPr/>
        </p:nvGrpSpPr>
        <p:grpSpPr>
          <a:xfrm>
            <a:off x="7421410" y="2470696"/>
            <a:ext cx="3173227" cy="612182"/>
            <a:chOff x="2584929" y="3170797"/>
            <a:chExt cx="6183602" cy="1585376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9F2D194-5B96-4EA2-8EAC-573EB04ADE8C}"/>
                </a:ext>
              </a:extLst>
            </p:cNvPr>
            <p:cNvSpPr/>
            <p:nvPr/>
          </p:nvSpPr>
          <p:spPr>
            <a:xfrm>
              <a:off x="2584929" y="3170797"/>
              <a:ext cx="6183598" cy="1585376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sz="1400"/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60D83FD0-D58D-412D-8AC2-70B07CFFF6D1}"/>
                </a:ext>
              </a:extLst>
            </p:cNvPr>
            <p:cNvSpPr/>
            <p:nvPr/>
          </p:nvSpPr>
          <p:spPr>
            <a:xfrm>
              <a:off x="2584935" y="3170797"/>
              <a:ext cx="6183596" cy="501700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Organization Portal - Production</a:t>
              </a:r>
              <a:endParaRPr lang="he-IL" sz="1400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FD890C51-19C5-4F1B-B955-F64BE64846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9804987"/>
              </p:ext>
            </p:extLst>
          </p:nvPr>
        </p:nvGraphicFramePr>
        <p:xfrm>
          <a:off x="7467768" y="2722154"/>
          <a:ext cx="3099662" cy="27432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630919">
                  <a:extLst>
                    <a:ext uri="{9D8B030D-6E8A-4147-A177-3AD203B41FA5}">
                      <a16:colId xmlns:a16="http://schemas.microsoft.com/office/drawing/2014/main" val="1534068535"/>
                    </a:ext>
                  </a:extLst>
                </a:gridCol>
                <a:gridCol w="468743">
                  <a:extLst>
                    <a:ext uri="{9D8B030D-6E8A-4147-A177-3AD203B41FA5}">
                      <a16:colId xmlns:a16="http://schemas.microsoft.com/office/drawing/2014/main" val="66611886"/>
                    </a:ext>
                  </a:extLst>
                </a:gridCol>
              </a:tblGrid>
              <a:tr h="242404">
                <a:tc>
                  <a:txBody>
                    <a:bodyPr/>
                    <a:lstStyle/>
                    <a:p>
                      <a:pPr algn="l" rtl="0"/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https://bnkl3dgisprod.mapi.co.il/portal</a:t>
                      </a:r>
                      <a:endParaRPr lang="he-IL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he-IL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994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9424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80</Words>
  <Application>Microsoft Office PowerPoint</Application>
  <PresentationFormat>Widescreen</PresentationFormat>
  <Paragraphs>38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אופיר מזור</dc:creator>
  <cp:lastModifiedBy>אופיר מזור</cp:lastModifiedBy>
  <cp:revision>17</cp:revision>
  <dcterms:created xsi:type="dcterms:W3CDTF">2025-11-27T10:40:22Z</dcterms:created>
  <dcterms:modified xsi:type="dcterms:W3CDTF">2026-08-18T08:29:52Z</dcterms:modified>
</cp:coreProperties>
</file>